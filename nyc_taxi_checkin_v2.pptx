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6464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11096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95728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9624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8152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57416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42048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6680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95944" y="27432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26464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1096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5728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4992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9624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34256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7416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42048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1312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95944" y="89611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1832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11096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95728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80360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64992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49624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4256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0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88152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784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57416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42048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26680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11312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95944" y="151790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1832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26464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11096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95728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80360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4992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49624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34256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18888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03520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88152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72784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57416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42048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11312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95944" y="2139696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57200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1832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26464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11096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95728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880360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64992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49624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334256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818888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303520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88152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72784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57416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42048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26680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211312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95944" y="2761488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57200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41832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426464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911096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395728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80360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64992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49624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34256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18888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03520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88152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72784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57416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42048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26680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11312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95944" y="3383280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57200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1832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426464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911096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95728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80360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364992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49624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334256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18888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03520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88152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72784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57416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242048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26680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211312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95944" y="4005072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7200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41832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426464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911096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395728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880360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364992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849624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334256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18888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303520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788152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272784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57416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242048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726680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211312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695944" y="4626864"/>
            <a:ext cx="64008" cy="64008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502920" y="5029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NYC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Pickup Demand</a:t>
            </a:r>
            <a:endParaRPr lang="en-US" sz="4600" dirty="0"/>
          </a:p>
        </p:txBody>
      </p:sp>
      <p:sp>
        <p:nvSpPr>
          <p:cNvPr id="148" name="Text 146"/>
          <p:cNvSpPr/>
          <p:nvPr/>
        </p:nvSpPr>
        <p:spPr>
          <a:xfrm>
            <a:off x="50292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vs. Machine Learning  ·  Progress Check-In</a:t>
            </a:r>
            <a:endParaRPr lang="en-US" sz="1700" dirty="0"/>
          </a:p>
        </p:txBody>
      </p:sp>
      <p:sp>
        <p:nvSpPr>
          <p:cNvPr id="149" name="Shape 147"/>
          <p:cNvSpPr/>
          <p:nvPr/>
        </p:nvSpPr>
        <p:spPr>
          <a:xfrm>
            <a:off x="502920" y="3108960"/>
            <a:ext cx="3200400" cy="45720"/>
          </a:xfrm>
          <a:prstGeom prst="rect">
            <a:avLst/>
          </a:prstGeom>
          <a:solidFill>
            <a:srgbClr val="7A90A8"/>
          </a:solidFill>
          <a:ln w="12700">
            <a:solidFill>
              <a:srgbClr val="7A90A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02920" y="3310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Firas Astwani  ·  NYC TLC Yellow Taxi  ·  Jan 2025  ·  ~3.47M trips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7406640" y="4480560"/>
            <a:ext cx="1508760" cy="43891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7406640" y="448056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0241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forecasting and why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6592" y="91440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914400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914400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10241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081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TLC trip records — scope &amp; 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67712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67712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7614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Missingness, outliers, sanity checks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267712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267712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267712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76148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features, cyclical encoding, interactions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21024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21024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21024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ML Results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4114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baselines + pooled XGBoost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621024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621024"/>
            <a:ext cx="4572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621024"/>
            <a:ext cx="457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03520" y="3730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TimeMCL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4114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multi-future forecasting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4114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 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hourly taxi pickup counts by zone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 taxi zones covering all NYC boroughs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driver dispatch &amp; positioning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hourly, daily, weekly demand cycles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spatial dependencies between zones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pickup_count per (hour, PULocationID)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96112"/>
            <a:ext cx="128016" cy="1170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9875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3.47M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in 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Yellow Taxi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41148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221992"/>
            <a:ext cx="128016" cy="1170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134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1363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trip record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547872"/>
            <a:ext cx="4114800" cy="117043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547872"/>
            <a:ext cx="128016" cy="1170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6393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02920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Zones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4622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PULocationID values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530352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Yellow Taxi  ·  yellow_tripdata_2025-01.parquet  ·  </a:t>
            </a:r>
            <a:pPr indent="0" marL="0">
              <a:buNone/>
            </a:pPr>
            <a:r>
              <a:rPr lang="en-US" sz="13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Dec 2024 → Late Jan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4114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023360" cy="402336"/>
          </a:xfrm>
          <a:prstGeom prst="rect">
            <a:avLst/>
          </a:prstGeom>
          <a:solidFill>
            <a:srgbClr val="F2F4F7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665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tpep_pickup_datetime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20665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hourly aggregation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7802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14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PULocationID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5146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identifier (target groupby)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023360" cy="402336"/>
          </a:xfrm>
          <a:prstGeom prst="rect">
            <a:avLst/>
          </a:prstGeom>
          <a:solidFill>
            <a:srgbClr val="F2F4F7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626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trip_distance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9626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filtering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74136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10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fare_amount / total_amount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checks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4023360" cy="402336"/>
          </a:xfrm>
          <a:prstGeom prst="rect">
            <a:avLst/>
          </a:prstGeom>
          <a:solidFill>
            <a:srgbClr val="F2F4F7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587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passenger_count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858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 null — vendor issue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70248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068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tpep_dropoff_datetime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430682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/ speed sanity check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554480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554480"/>
            <a:ext cx="4160520" cy="36576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554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2029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pickup_count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92040" y="25786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trips starting in a given zone during a given hour window.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3127248"/>
            <a:ext cx="3977640" cy="502920"/>
          </a:xfrm>
          <a:prstGeom prst="rect">
            <a:avLst/>
          </a:prstGeom>
          <a:solidFill>
            <a:srgbClr val="EAF7EE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6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df.groupby(['pickup_hour', 'PULocationID'])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6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.size().reset_index(name='pickup_count')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39312"/>
            <a:ext cx="4160520" cy="1161288"/>
          </a:xfrm>
          <a:prstGeom prst="rect">
            <a:avLst/>
          </a:prstGeom>
          <a:solidFill>
            <a:srgbClr val="FFF8E1"/>
          </a:solidFill>
          <a:ln w="19050">
            <a:solidFill>
              <a:srgbClr val="F5C5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Structured Missingness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0233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passenger_count, RatecodeID, store_and_fwd_flag, congestion_surcharge, Airport_fee all null together in 15.5% of rows — vendor pipeline issue, not random.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86968"/>
            <a:ext cx="4572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950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Raw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2710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dtypes, missingness, summary stats. Confirmed 3.47M rows, 20 cols, zero nulls on key IDs and timestamps.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28216"/>
            <a:ext cx="4572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2821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1792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Missingness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1122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 of rows have passenger_count, RatecodeID, congestion_surcharge, Airport_fee all null together → vendor pipeline issue, not random.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9464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9464"/>
            <a:ext cx="4572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946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2633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Sanity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29535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duration_min = dropoff − pickup  ·  implied_mph = distance / duration  →  used to catch impossible trips (e.g., 1,000 mph).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10712"/>
            <a:ext cx="457200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071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1248" y="3474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Outliers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37947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non-positive durations · extreme distances (&gt;200 mi) · fares &lt; $0 or &gt; $500 · implied speed &gt; 80 mph.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51960"/>
            <a:ext cx="457200" cy="7498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5196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Structured Missings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" y="4636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passenger_count, RatecodeID etc. using median/mode. Missingness is systematic so imputation is appropriate here.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86968"/>
            <a:ext cx="8595360" cy="34747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869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Lag Features  (Most Important)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93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pickup_count_lag1h  — last hour's demand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453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pickup_count_lag24h  — same hour yesterday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893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pickup_count_lag168h  — same hour last week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54533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log1p_lag1h  — log-scaled to reduce skew on high-count zones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859536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842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Demand is strongly autocorrelated. These 4 features alone explain most of model performance.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04288"/>
            <a:ext cx="8595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042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Time-Based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27066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hour, day, month, day_of_week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9626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is_weekend  ·  is_holiday (NYE, MLK Day)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7066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hour_sin / hour_cos  ·  dow_sin / dow_cos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9626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is_late_night  ·  hour_x_weekend (interaction)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859536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015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Cyclical encoding keeps hour 23 and hour 0 adjacent in feature space — plain integers don't.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21608"/>
            <a:ext cx="85953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21608"/>
            <a:ext cx="85953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216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Zone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12394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PULocationID  — zone identifier itself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12394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zone_avg_pickup_train  — baseline zone activity level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00600"/>
            <a:ext cx="8595360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1888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Zones have very stable relative demand levels — Manhattan core vs outer boroughs.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86968"/>
            <a:ext cx="2743200" cy="365760"/>
          </a:xfrm>
          <a:prstGeom prst="rect">
            <a:avLst/>
          </a:prstGeom>
          <a:solidFill>
            <a:srgbClr val="7A90A8"/>
          </a:solidFill>
          <a:ln w="12700">
            <a:solidFill>
              <a:srgbClr val="7A90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86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Baselines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2468880" cy="475488"/>
          </a:xfrm>
          <a:prstGeom prst="rect">
            <a:avLst/>
          </a:prstGeom>
          <a:solidFill>
            <a:srgbClr val="F2F4F7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Lag-1h naive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3716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~4.8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2468880" cy="475488"/>
          </a:xfrm>
          <a:prstGeom prst="rect">
            <a:avLst/>
          </a:prstGeom>
          <a:solidFill>
            <a:srgbClr val="F2F4F7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385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Lag-24h naive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93852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~4.5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05456"/>
            <a:ext cx="2468880" cy="475488"/>
          </a:xfrm>
          <a:prstGeom prst="rect">
            <a:avLst/>
          </a:prstGeom>
          <a:solidFill>
            <a:srgbClr val="F2F4F7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054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Lag-168h (weekly)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50545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~4.4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2468880" cy="475488"/>
          </a:xfrm>
          <a:prstGeom prst="rect">
            <a:avLst/>
          </a:prstGeom>
          <a:solidFill>
            <a:srgbClr val="F2F4F7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723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lag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07238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~4.6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703320"/>
            <a:ext cx="2468880" cy="45720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94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baseline: weekly lag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~4.4 MAE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886968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886968"/>
            <a:ext cx="5440680" cy="365760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88696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Pooled XGBoost  (Best Model)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20440" y="1371600"/>
            <a:ext cx="2423160" cy="10058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13898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3.83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3520440" y="20116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371600"/>
            <a:ext cx="2423160" cy="1005840"/>
          </a:xfrm>
          <a:prstGeom prst="rect">
            <a:avLst/>
          </a:prstGeom>
          <a:solidFill>
            <a:srgbClr val="EAF7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38988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3.58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6172200" y="20116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46520" y="1353312"/>
            <a:ext cx="214884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13898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~18–20%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446520" y="19202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best baseline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93008" y="2578608"/>
            <a:ext cx="5166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~17 seconds  (fast iteration)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lag_1h &gt; lag_168h &gt; lag_24h &gt; zone_avg &gt; hour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model: one XGBoost trained across all 263 zones simultaneously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captures non-linear interactions between time, zone, and lag features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not ideal here — some zones have near-zero demand, inflating % errors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0"/>
          </a:solidFill>
          <a:ln w="12700">
            <a:solidFill>
              <a:srgbClr val="0D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TimeMCL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475488"/>
          </a:xfrm>
          <a:prstGeom prst="rect">
            <a:avLst/>
          </a:prstGeom>
          <a:solidFill>
            <a:srgbClr val="1A2E45"/>
          </a:solidFill>
          <a:ln w="12700">
            <a:solidFill>
              <a:srgbClr val="243C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TimeMCL  </a:t>
            </a:r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Winner-Takes-All for Multivariate Probabilistic Time Series Forecasting  (ICML 2025)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95360" cy="98755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C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81328"/>
            <a:ext cx="457200" cy="987552"/>
          </a:xfrm>
          <a:prstGeom prst="rect">
            <a:avLst/>
          </a:prstGeom>
          <a:solidFill>
            <a:srgbClr val="141E2B"/>
          </a:solidFill>
          <a:ln w="12700">
            <a:solidFill>
              <a:srgbClr val="141E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81328"/>
            <a:ext cx="457200" cy="41148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5453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Point Forecasts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86537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ARIMA output one prediction per hour/zone. But demand is genuinely ambiguous — the same conditions on a holiday vs a regular weekday produce very different outcomes. One number averages over all that.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98755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C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78608"/>
            <a:ext cx="457200" cy="987552"/>
          </a:xfrm>
          <a:prstGeom prst="rect">
            <a:avLst/>
          </a:prstGeom>
          <a:solidFill>
            <a:srgbClr val="141E2B"/>
          </a:solidFill>
          <a:ln w="12700">
            <a:solidFill>
              <a:srgbClr val="141E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457200" cy="411480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6426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Learning (MCL)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96265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TimeMCL trains a neural network with K output heads using a Winner-Takes-All loss. Only the head closest to the true outcome is penalized — forcing each head to specialize on a different plausible future.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75888"/>
            <a:ext cx="8595360" cy="987552"/>
          </a:xfrm>
          <a:prstGeom prst="rect">
            <a:avLst/>
          </a:prstGeom>
          <a:solidFill>
            <a:srgbClr val="1A2E45"/>
          </a:solidFill>
          <a:ln w="12700">
            <a:solidFill>
              <a:srgbClr val="243C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75888"/>
            <a:ext cx="457200" cy="987552"/>
          </a:xfrm>
          <a:prstGeom prst="rect">
            <a:avLst/>
          </a:prstGeom>
          <a:solidFill>
            <a:srgbClr val="141E2B"/>
          </a:solidFill>
          <a:ln w="12700">
            <a:solidFill>
              <a:srgbClr val="141E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75888"/>
            <a:ext cx="457200" cy="411480"/>
          </a:xfrm>
          <a:prstGeom prst="rect">
            <a:avLst/>
          </a:prstGeom>
          <a:solidFill>
            <a:srgbClr val="A8E6A3"/>
          </a:solidFill>
          <a:ln w="12700">
            <a:solidFill>
              <a:srgbClr val="A8E6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7398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E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This Problem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059936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demand has high genuine uncertainty (events, weather, congestion). TimeMCL produces a distribution of K forecasts — enabling uncertainty-aware dispatch: 'High demand scenario vs low demand scenario tonight.'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A2E45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773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note: TimeMCL outputs K forecasts, not one — comparison uses CRPS or best-of-K MAE, not plain MAPE.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143000" cy="126187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16200000">
            <a:off x="274320" y="914400"/>
            <a:ext cx="1143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36192" y="105156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weather features via external API (temp, precipitation, weather events)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holiday calendar — expand beyond NYE / MLK Day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error analysis — identify hardest-to-forecast zones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1143000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274320" y="2304288"/>
            <a:ext cx="1143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36192" y="2441448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months of data for stronger seasonality signal (currently only ~1 month)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CNN / LSTM as additional deep learning baselines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adjacency features — neighboring zone demand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94176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94176"/>
            <a:ext cx="1143000" cy="1261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16200000">
            <a:off x="274320" y="3694176"/>
            <a:ext cx="1143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Goal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36192" y="3831336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TimeMCL — apply Winner-Takes-All probabilistic forecasting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comparison: ARIMA · XGBoost · TimeMCL on same test period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 off-peak analysis · spatial heatmaps of error by zone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4114800" cy="45720"/>
          </a:xfrm>
          <a:prstGeom prst="rect">
            <a:avLst/>
          </a:prstGeom>
          <a:solidFill>
            <a:srgbClr val="7A90A8"/>
          </a:solidFill>
          <a:ln w="12700">
            <a:solidFill>
              <a:srgbClr val="7A90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Firas Astwani  ·  NYC Taxi Demand Forecasting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Jan 2025 TLC data loaded &amp; cleaned  (3.47M trips, 15.5% structured nulls handled)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Features engineered: lag-1h, lag-24h, lag-168h, cyclical time, zone baseline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Pooled XGBoost: Test MAE 3.58  (~18–20% over seasonal baseline)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weather features, more data, temporal deep learning, TimeMCL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Demand Forecasting — Status Check-In</dc:title>
  <dc:subject>PptxGenJS Presentation</dc:subject>
  <dc:creator>PptxGenJS</dc:creator>
  <cp:lastModifiedBy>PptxGenJS</cp:lastModifiedBy>
  <cp:revision>1</cp:revision>
  <dcterms:created xsi:type="dcterms:W3CDTF">2026-04-02T03:21:01Z</dcterms:created>
  <dcterms:modified xsi:type="dcterms:W3CDTF">2026-04-02T03:21:01Z</dcterms:modified>
</cp:coreProperties>
</file>